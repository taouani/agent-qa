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3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Agent-QA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FDBFE"/>
                </a:solidFill>
                <a:latin typeface="Calibri"/>
              </a:defRPr>
            </a:pPr>
            <a:r>
              <a:t>AI-Powered QA Automation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FDBFE"/>
                </a:solidFill>
                <a:latin typeface="Calibri"/>
              </a:defRPr>
            </a:pPr>
            <a:r>
              <a:t>Analyze requirements. Generate test deliverables. Automate QA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4114800"/>
            <a:ext cx="201168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4160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18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4114800"/>
            <a:ext cx="201168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4160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  <a:latin typeface="Calibri"/>
              </a:defRPr>
            </a:pPr>
            <a:r>
              <a:t>7 Subagents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114800"/>
            <a:ext cx="201168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4160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8 Format Templates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32588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Slow &amp;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2984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Test case creation is slow and inconsistent across teams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Context Gathering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0756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QA engineers spend hours reading Jira &amp; Confluence to understand requirements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8803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Documentation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529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Test documentation falls out of sync with actual requirements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5760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Repetitive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Writing Gherkin, Playwright specs, and API tests is tedious and repetitive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Last-Minute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407407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Release notes and risk registers created under deadline pressure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212079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1663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Calibri"/>
              </a:defRPr>
            </a:pPr>
            <a:r>
              <a:t>Platform Fragmentation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184647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No standardized process across GitLab, GitHub, and Azure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What is Agent-QA?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Calibri"/>
              </a:defRPr>
            </a:pPr>
            <a:r>
              <a:t>An AI agent that reads your Jira tickets, Confluence pages, and git changes to automatically</a:t>
            </a:r>
            <a:br/>
            <a:r>
              <a:t>generate comprehensive, standards-compliant test deliverables.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25603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474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Pure Markdown &amp;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No runtime or compilation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No package manager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Works in any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474720" cy="25603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286000"/>
            <a:ext cx="34747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Multi-Platform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GitLab, GitHub, Azure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Jira + Confluence via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Platform-agnostic 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286000"/>
            <a:ext cx="3474720" cy="2560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59" y="2286000"/>
            <a:ext cx="34747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39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IDE Agnostic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Claude Code, Cursor, 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291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GitHub Copilot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57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✓  Any IDE via direct reference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Generated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148840" cy="2011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Calibri"/>
              </a:defRPr>
            </a:pPr>
            <a:r>
              <a:t>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Positive, negative &amp; edge</a:t>
            </a:r>
            <a:br/>
            <a:r>
              <a:t>Xray CSV export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188720"/>
            <a:ext cx="2148840" cy="20116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Calibri"/>
              </a:defRPr>
            </a:pPr>
            <a:r>
              <a:t>Test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Risk-based approach</a:t>
            </a:r>
            <a:br/>
            <a:r>
              <a:t>tailored per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188720"/>
            <a:ext cx="2148840" cy="20116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9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Calibri"/>
              </a:defRPr>
            </a:pPr>
            <a:r>
              <a:t>Test Charter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82880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Exploratory testing</a:t>
            </a:r>
            <a:br/>
            <a:r>
              <a:t>session definitions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188720"/>
            <a:ext cx="2148840" cy="20116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Calibri"/>
              </a:defRPr>
            </a:pPr>
            <a:r>
              <a:t>Test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82880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Scope, schedule,</a:t>
            </a:r>
            <a:br/>
            <a:r>
              <a:t>resources,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188720"/>
            <a:ext cx="2148840" cy="20116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0" y="1371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C2626"/>
                </a:solidFill>
                <a:latin typeface="Calibri"/>
              </a:defRPr>
            </a:pPr>
            <a:r>
              <a:t>Risk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82880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Risks with mitigation</a:t>
            </a:r>
            <a:br/>
            <a:r>
              <a:t>strategies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2148840" cy="201168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D9488"/>
                </a:solidFill>
                <a:latin typeface="Calibri"/>
              </a:defRPr>
            </a:pPr>
            <a:r>
              <a:t>Gherkin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Given/When/Then</a:t>
            </a:r>
            <a:br/>
            <a:r>
              <a:t>.feature 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3657600"/>
            <a:ext cx="2148840" cy="2011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0" y="3840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976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Executable .spec.ts</a:t>
            </a:r>
            <a:br/>
            <a:r>
              <a:t>with Page Objects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3657600"/>
            <a:ext cx="2148840" cy="20116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9" y="3840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Calibri"/>
              </a:defRPr>
            </a:pPr>
            <a:r>
              <a:t>API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42976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REST &amp; GraphQL</a:t>
            </a:r>
            <a:br/>
            <a:r>
              <a:t>test specs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657600"/>
            <a:ext cx="2148840" cy="20116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3840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Calibri"/>
              </a:defRPr>
            </a:pPr>
            <a:r>
              <a:t>Accessibility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976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WCAG 2.1 AA</a:t>
            </a:r>
            <a:br/>
            <a:r>
              <a:t>compliance tests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3657600"/>
            <a:ext cx="2148840" cy="20116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0" y="3840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Calibri"/>
              </a:defRPr>
            </a:pPr>
            <a:r>
              <a:t>Release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297680"/>
            <a:ext cx="1965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Auto-generated from</a:t>
            </a:r>
            <a:br/>
            <a:r>
              <a:t>commit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5943600"/>
            <a:ext cx="5760720" cy="457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0" y="5989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Calibri"/>
              </a:defRPr>
            </a:pPr>
            <a:r>
              <a:t>+ Publish any deliverable directly to Confluence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INPUT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645920" cy="640080"/>
          </a:xfrm>
          <a:prstGeom prst="roundRect">
            <a:avLst/>
          </a:prstGeom>
          <a:solidFill>
            <a:srgbClr val="EA580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Jira</a:t>
            </a:r>
            <a:br/>
            <a:r>
              <a:t>Tickets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463040"/>
            <a:ext cx="1645920" cy="640080"/>
          </a:xfrm>
          <a:prstGeom prst="round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Confluence</a:t>
            </a:r>
            <a:br/>
            <a:r>
              <a:t>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645920" cy="64008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Git</a:t>
            </a:r>
            <a:br/>
            <a:r>
              <a:t>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286000"/>
            <a:ext cx="1645920" cy="64008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MCP</a:t>
            </a:r>
            <a:br/>
            <a:r>
              <a:t>Servers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34840" y="1691640"/>
            <a:ext cx="36576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434840" y="2423160"/>
            <a:ext cx="36576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AGENT-QA 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371600"/>
            <a:ext cx="3200400" cy="34747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66360" y="1508760"/>
            <a:ext cx="2743200" cy="50292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Commands (18)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103120"/>
            <a:ext cx="2743200" cy="50292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697479"/>
            <a:ext cx="2743200" cy="50292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Subagents (7)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3291839"/>
            <a:ext cx="2743200" cy="50292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886200"/>
            <a:ext cx="2743200" cy="502920"/>
          </a:xfrm>
          <a:prstGeom prst="round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Formats (8)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21040" y="2103120"/>
            <a:ext cx="36576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321040" y="2834640"/>
            <a:ext cx="365760" cy="219456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8321040" y="3566160"/>
            <a:ext cx="365760" cy="219456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1051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GENERATED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417320"/>
            <a:ext cx="2560320" cy="4572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Test Cases &amp; Plans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947672"/>
            <a:ext cx="2560320" cy="4572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Gherkin .feature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478024"/>
            <a:ext cx="2560320" cy="4572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Playwright .spec.ts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3008376"/>
            <a:ext cx="2560320" cy="45720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A580C"/>
                </a:solidFill>
                <a:latin typeface="Calibri"/>
              </a:defRPr>
            </a:pPr>
            <a:r>
              <a:t>API Test Specs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3538728"/>
            <a:ext cx="2560320" cy="4572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C2626"/>
                </a:solidFill>
                <a:latin typeface="Calibri"/>
              </a:defRPr>
            </a:pPr>
            <a:r>
              <a:t>Risk Register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4069080"/>
            <a:ext cx="2560320" cy="4572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D9488"/>
                </a:solidFill>
                <a:latin typeface="Calibri"/>
              </a:defRPr>
            </a:pPr>
            <a:r>
              <a:t>Release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IDE INTEGRATION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515600" cy="640080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4400" y="5577840"/>
            <a:ext cx="18288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0" y="5577840"/>
            <a:ext cx="18288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5577840"/>
            <a:ext cx="18288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7C3AED"/>
                </a:solidFill>
                <a:latin typeface="Calibri"/>
              </a:defRPr>
            </a:pPr>
            <a:r>
              <a:t>VS 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5577840"/>
            <a:ext cx="18288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A580C"/>
                </a:solidFill>
                <a:latin typeface="Calibri"/>
              </a:defRPr>
            </a:pPr>
            <a:r>
              <a:t>GitHub Copilot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5577840"/>
            <a:ext cx="182880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Any IDE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074920"/>
            <a:ext cx="274320" cy="3200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2103120" cy="50292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agent-qa/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280160" y="1600200"/>
            <a:ext cx="4800600" cy="685800"/>
          </a:xfrm>
          <a:prstGeom prst="line">
            <a:avLst/>
          </a:prstGeom>
          <a:ln w="19050">
            <a:solidFill>
              <a:srgbClr val="C0C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286000"/>
            <a:ext cx="1645920" cy="50292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commands/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18 multi-phase</a:t>
            </a:r>
            <a:br/>
            <a:r>
              <a:t>command defs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200400" y="1600200"/>
            <a:ext cx="2880360" cy="685800"/>
          </a:xfrm>
          <a:prstGeom prst="line">
            <a:avLst/>
          </a:prstGeom>
          <a:ln w="19050">
            <a:solidFill>
              <a:srgbClr val="C0C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7440" y="2286000"/>
            <a:ext cx="1645920" cy="502920"/>
          </a:xfrm>
          <a:prstGeom prst="round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rules/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QA conventions</a:t>
            </a:r>
            <a:br/>
            <a:r>
              <a:t>Output standards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120640" y="1600200"/>
            <a:ext cx="960120" cy="685800"/>
          </a:xfrm>
          <a:prstGeom prst="line">
            <a:avLst/>
          </a:prstGeom>
          <a:ln w="19050">
            <a:solidFill>
              <a:srgbClr val="C0C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97680" y="2286000"/>
            <a:ext cx="1645920" cy="50292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agents/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specialized</a:t>
            </a:r>
            <a:br/>
            <a:r>
              <a:t>subagents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1600200"/>
            <a:ext cx="960120" cy="685800"/>
          </a:xfrm>
          <a:prstGeom prst="line">
            <a:avLst/>
          </a:prstGeom>
          <a:ln w="19050">
            <a:solidFill>
              <a:srgbClr val="C0C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286000"/>
            <a:ext cx="1645920" cy="50292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framework/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Git platform</a:t>
            </a:r>
            <a:br/>
            <a:r>
              <a:t>abstractions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1600200"/>
            <a:ext cx="2880360" cy="685800"/>
          </a:xfrm>
          <a:prstGeom prst="line">
            <a:avLst/>
          </a:prstGeom>
          <a:ln w="19050">
            <a:solidFill>
              <a:srgbClr val="C0C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2286000"/>
            <a:ext cx="1645920" cy="502920"/>
          </a:xfrm>
          <a:prstGeom prst="roundRect">
            <a:avLst/>
          </a:prstGeom>
          <a:solidFill>
            <a:srgbClr val="EA580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formats/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output format</a:t>
            </a:r>
            <a:br/>
            <a:r>
              <a:t>templates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1600200"/>
            <a:ext cx="4800600" cy="685800"/>
          </a:xfrm>
          <a:prstGeom prst="line">
            <a:avLst/>
          </a:prstGeom>
          <a:ln w="19050">
            <a:solidFill>
              <a:srgbClr val="C0C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0" y="2286000"/>
            <a:ext cx="1645920" cy="50292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ide/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834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IDE integration</a:t>
            </a:r>
            <a:br/>
            <a:r>
              <a:t>templates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" y="3840480"/>
            <a:ext cx="1371600" cy="5943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563EB"/>
                </a:solidFill>
                <a:latin typeface="Calibri"/>
              </a:defRPr>
            </a:pPr>
            <a:r>
              <a:t>analyze-</a:t>
            </a:r>
            <a:br/>
            <a:r>
              <a:t>requirements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3840480"/>
            <a:ext cx="1371600" cy="5943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563EB"/>
                </a:solidFill>
                <a:latin typeface="Calibri"/>
              </a:defRPr>
            </a:pPr>
            <a:r>
              <a:t>generate-</a:t>
            </a:r>
            <a:br/>
            <a:r>
              <a:t>test-cases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3840480"/>
            <a:ext cx="1371600" cy="5943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563EB"/>
                </a:solidFill>
                <a:latin typeface="Calibri"/>
              </a:defRPr>
            </a:pPr>
            <a:r>
              <a:t>generate-</a:t>
            </a:r>
            <a:br/>
            <a:r>
              <a:t>gherkin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840480"/>
            <a:ext cx="1371600" cy="5943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2563EB"/>
                </a:solidFill>
                <a:latin typeface="Calibri"/>
              </a:defRPr>
            </a:pPr>
            <a:r>
              <a:t>generate-</a:t>
            </a:r>
            <a:br/>
            <a:r>
              <a:t>playwright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399" y="4486136"/>
            <a:ext cx="1371600" cy="594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7C3AED"/>
                </a:solidFill>
                <a:latin typeface="Calibri"/>
              </a:defRPr>
            </a:pPr>
            <a:r>
              <a:t>requirements</a:t>
            </a:r>
            <a:br/>
            <a:r>
              <a:t>analyst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8009" y="4549140"/>
            <a:ext cx="1371600" cy="594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7C3AED"/>
                </a:solidFill>
                <a:latin typeface="Calibri"/>
              </a:defRPr>
            </a:pPr>
            <a:r>
              <a:t>test-case</a:t>
            </a:r>
            <a:br/>
            <a:r>
              <a:t>generator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912" y="4531298"/>
            <a:ext cx="1371600" cy="594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7C3AED"/>
                </a:solidFill>
                <a:latin typeface="Calibri"/>
              </a:defRPr>
            </a:pPr>
            <a:r>
              <a:rPr dirty="0"/>
              <a:t>gherkin</a:t>
            </a:r>
            <a:br>
              <a:rPr dirty="0"/>
            </a:br>
            <a:r>
              <a:rPr dirty="0"/>
              <a:t>writer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12755" y="4505929"/>
            <a:ext cx="1371600" cy="594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7C3AED"/>
                </a:solidFill>
                <a:latin typeface="Calibri"/>
              </a:defRPr>
            </a:pPr>
            <a:r>
              <a:t>playwright</a:t>
            </a:r>
            <a:br/>
            <a:r>
              <a:t>generator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3187" y="3858183"/>
            <a:ext cx="1097280" cy="50292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EA580C"/>
                </a:solidFill>
                <a:latin typeface="Calibri"/>
              </a:defRPr>
            </a:pPr>
            <a:r>
              <a:rPr dirty="0"/>
              <a:t>confluence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14478" y="3831336"/>
            <a:ext cx="1097280" cy="50292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EA580C"/>
                </a:solidFill>
                <a:latin typeface="Calibri"/>
              </a:defRPr>
            </a:pPr>
            <a:r>
              <a:t>gherkin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42785" y="3840480"/>
            <a:ext cx="1097280" cy="50292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EA580C"/>
                </a:solidFill>
                <a:latin typeface="Calibri"/>
              </a:defRPr>
            </a:pPr>
            <a:r>
              <a:t>playwright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40240" y="3840480"/>
            <a:ext cx="1097280" cy="50292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EA580C"/>
                </a:solidFill>
                <a:latin typeface="Calibri"/>
              </a:defRPr>
            </a:pPr>
            <a:r>
              <a:t>xray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3984" y="3216625"/>
            <a:ext cx="868680" cy="5029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DC2626"/>
                </a:solidFill>
                <a:latin typeface="Calibri"/>
              </a:defRPr>
            </a:pPr>
            <a:r>
              <a:t>claude/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34367" y="3251724"/>
            <a:ext cx="868680" cy="5029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DC2626"/>
                </a:solidFill>
                <a:latin typeface="Calibri"/>
              </a:defRPr>
            </a:pPr>
            <a:r>
              <a:t>cursor/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3262847"/>
            <a:ext cx="868680" cy="5029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DC2626"/>
                </a:solidFill>
                <a:latin typeface="Calibri"/>
              </a:defRPr>
            </a:pPr>
            <a:r>
              <a:t>vscode/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33048" y="3283672"/>
            <a:ext cx="868680" cy="5029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DC2626"/>
                </a:solidFill>
                <a:latin typeface="Calibri"/>
              </a:defRPr>
            </a:pPr>
            <a:r>
              <a:t>github/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alibri"/>
              </a:defRPr>
            </a:pPr>
            <a:r>
              <a:t>OUTPUT DIRECTORY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agent-qa/YYYY-MM-DD-{context}/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requirements/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6596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test-cases/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test-strategy/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69079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test-charter/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test-plan/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risk-register/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6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gherkin/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playwright/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8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release-notes/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78440" y="5669280"/>
            <a:ext cx="100584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commits/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Command Dependency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64008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analyze-</a:t>
            </a:r>
            <a:br/>
            <a:r>
              <a:t>requirements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3017520" y="1325880"/>
            <a:ext cx="457200" cy="64008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74720" y="1097280"/>
            <a:ext cx="2377440" cy="45720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generate-test-cases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1965960"/>
            <a:ext cx="457200" cy="9144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828800"/>
            <a:ext cx="2377440" cy="457200"/>
          </a:xfrm>
          <a:prstGeom prst="round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generate-test-strategy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1965960"/>
            <a:ext cx="457200" cy="82296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560320"/>
            <a:ext cx="2377440" cy="45720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generate-test-plan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1965960"/>
            <a:ext cx="457200" cy="155448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74720" y="3291840"/>
            <a:ext cx="2377440" cy="457200"/>
          </a:xfrm>
          <a:prstGeom prst="roundRect">
            <a:avLst/>
          </a:prstGeom>
          <a:solidFill>
            <a:srgbClr val="EA580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generate-risk-register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1965960"/>
            <a:ext cx="457200" cy="2286000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4023360"/>
            <a:ext cx="237744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generate-test-charter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1965960"/>
            <a:ext cx="457200" cy="301752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74720" y="4754880"/>
            <a:ext cx="2377440" cy="457200"/>
          </a:xfrm>
          <a:prstGeom prst="roundRect">
            <a:avLst/>
          </a:prstGeom>
          <a:solidFill>
            <a:srgbClr val="DC262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generate-test-data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852160" y="960120"/>
            <a:ext cx="548640" cy="36576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731520"/>
            <a:ext cx="2743200" cy="45720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generate-gherkin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1325880"/>
            <a:ext cx="548640" cy="27432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1371600"/>
            <a:ext cx="2743200" cy="45720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generate-playwright-tests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1325880"/>
            <a:ext cx="548640" cy="91440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2011680"/>
            <a:ext cx="2743200" cy="45720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generate-api-tests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" y="1325880"/>
            <a:ext cx="548640" cy="155448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2651760"/>
            <a:ext cx="2743200" cy="45720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generate-accessibility-tests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645920"/>
            <a:ext cx="2103120" cy="548640"/>
          </a:xfrm>
          <a:prstGeom prst="round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publish-to-</a:t>
            </a:r>
            <a:br/>
            <a:r>
              <a:t>confluence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0" y="1920240"/>
            <a:ext cx="457200" cy="0"/>
          </a:xfrm>
          <a:prstGeom prst="line">
            <a:avLst/>
          </a:prstGeom>
          <a:ln w="19050">
            <a:solidFill>
              <a:srgbClr val="16A34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" y="5029200"/>
            <a:ext cx="2560320" cy="640080"/>
          </a:xfrm>
          <a:prstGeom prst="roundRect">
            <a:avLst/>
          </a:prstGeom>
          <a:solidFill>
            <a:srgbClr val="EA580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analyze-</a:t>
            </a:r>
            <a:br/>
            <a:r>
              <a:t>commits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17520" y="5349240"/>
            <a:ext cx="457200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74720" y="5120640"/>
            <a:ext cx="2377440" cy="457200"/>
          </a:xfrm>
          <a:prstGeom prst="roundRect">
            <a:avLst/>
          </a:prstGeom>
          <a:solidFill>
            <a:srgbClr val="EA580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generate-release-notes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5349240"/>
            <a:ext cx="548640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00800" y="5120640"/>
            <a:ext cx="2377440" cy="457200"/>
          </a:xfrm>
          <a:prstGeom prst="round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publish-to-confluence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Calibri"/>
              </a:defRPr>
            </a:pPr>
            <a:r>
              <a:t>Utility Commands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3566160"/>
            <a:ext cx="2286000" cy="365760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health-check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4005072"/>
            <a:ext cx="2286000" cy="365760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validate-outputs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4443983"/>
            <a:ext cx="2286000" cy="365760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traceability-report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4882896"/>
            <a:ext cx="2286000" cy="365760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run-pipeline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5321808"/>
            <a:ext cx="2286000" cy="365760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regenerate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Specialized Subagents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658368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29844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Requirements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361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Jira/Confluence analysis, language detection, requirement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38528"/>
            <a:ext cx="10515600" cy="658368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2048256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A34A"/>
                </a:solidFill>
                <a:latin typeface="Calibri"/>
              </a:defRPr>
            </a:pPr>
            <a:r>
              <a:t>Test Case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Positive/negative/edge case design, Xray CSV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88336"/>
            <a:ext cx="10515600" cy="658368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40" y="2798064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61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Calibri"/>
              </a:defRPr>
            </a:pPr>
            <a:r>
              <a:t>Gherkin 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35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Maps test cases to Given/When/Then .feature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10515600" cy="658368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40" y="3547872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11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A580C"/>
                </a:solidFill>
                <a:latin typeface="Calibri"/>
              </a:defRPr>
            </a:pPr>
            <a:r>
              <a:t>Playwright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85615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Generates .spec.ts files with Page Object pattern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87952"/>
            <a:ext cx="10515600" cy="658368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" y="429768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261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  <a:latin typeface="Calibri"/>
              </a:defRPr>
            </a:pPr>
            <a:r>
              <a:t>API Test 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3542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REST &amp; GraphQL API test specifications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37760"/>
            <a:ext cx="10515600" cy="658368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" y="5047488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010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2626"/>
                </a:solidFill>
                <a:latin typeface="Calibri"/>
              </a:defRPr>
            </a:pPr>
            <a:r>
              <a:t>Accessibility Tester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85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WCAG 2.1 AA compliance test case generation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87568"/>
            <a:ext cx="10515600" cy="658368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5840" y="579729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Confluence Publisher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Converts deliverables to Confluence format, publishes via MCP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128016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Run project-install.sh</a:t>
            </a:r>
            <a:br/>
            <a:r>
              <a:t>with your IDE flag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1463040"/>
            <a:ext cx="365760" cy="219456"/>
          </a:xfrm>
          <a:prstGeom prst="rightArrow">
            <a:avLst/>
          </a:prstGeom>
          <a:solidFill>
            <a:srgbClr val="C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246120" y="128016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51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Set git platform, Jira,</a:t>
            </a:r>
            <a:br/>
            <a:r>
              <a:t>Confluence in config.yml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00600" y="1463040"/>
            <a:ext cx="365760" cy="219456"/>
          </a:xfrm>
          <a:prstGeom prst="rightArrow">
            <a:avLst/>
          </a:prstGeom>
          <a:solidFill>
            <a:srgbClr val="C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32120" y="12801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651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Run /analyze-requirements</a:t>
            </a:r>
            <a:br/>
            <a:r>
              <a:t>with Jira ticket or JQL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86600" y="1463040"/>
            <a:ext cx="365760" cy="219456"/>
          </a:xfrm>
          <a:prstGeom prst="rightArrow">
            <a:avLst/>
          </a:prstGeom>
          <a:solidFill>
            <a:srgbClr val="C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18120" y="1280160"/>
            <a:ext cx="731520" cy="7315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651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Run any generate command</a:t>
            </a:r>
            <a:br/>
            <a:r>
              <a:t>for your deliverables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72600" y="1463040"/>
            <a:ext cx="365760" cy="219456"/>
          </a:xfrm>
          <a:prstGeom prst="rightArrow">
            <a:avLst/>
          </a:prstGeom>
          <a:solidFill>
            <a:srgbClr val="C0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04120" y="128016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194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Calibri"/>
              </a:defRPr>
            </a:pPr>
            <a:r>
              <a:t>Publish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2651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Publish deliverables</a:t>
            </a:r>
            <a:br/>
            <a:r>
              <a:t>to Confluence via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40AF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1051560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 /analyze-requirements PROJ-1234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Extracts and analyzes all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280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 /generate-test-cases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28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Generates comprehensive test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755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 /generate-playwright-tests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1755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Creates executable Playwright specs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5229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 /publish-to-confluence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522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Publishes deliverables to Confluence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IDE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7772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618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Slash commands + rules + agents +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Full native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515600" cy="777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76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Rules + Claude slash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76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Rule-based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515600" cy="7772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0906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VS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090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Settings + tasks + extensions +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Task runner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10515600" cy="77724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005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Calibri"/>
              </a:defRPr>
            </a:pPr>
            <a:r>
              <a:t>GitHub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File references via @agent-qa/commands/...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005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Reference-based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515600" cy="777240"/>
          </a:xfrm>
          <a:prstGeom prst="roundRect">
            <a:avLst/>
          </a:prstGeom>
          <a:solidFill>
            <a:srgbClr val="F7F8FA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919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Calibri"/>
              </a:defRPr>
            </a:pPr>
            <a:r>
              <a:t>Any Other 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919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Direct file reference to commands/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Manual invocation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760720"/>
            <a:ext cx="758952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0" y="58064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./scripts/project-install.sh --ide claude,cursor,vscode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011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57400" y="137160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Generate comprehensive test</a:t>
            </a:r>
            <a:br/>
            <a:r>
              <a:t>documentation in minutes, not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20116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15000" y="1371600"/>
            <a:ext cx="731520" cy="7315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60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Standardized output across</a:t>
            </a:r>
            <a:br/>
            <a:r>
              <a:t>all projects and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20116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72600" y="13716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560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Every test case links back to</a:t>
            </a:r>
            <a:br/>
            <a:r>
              <a:t>requirements via TC-{KEY}-{NNN}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383280" cy="201168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057400" y="3840480"/>
            <a:ext cx="731520" cy="7315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580C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Automatic language detection</a:t>
            </a:r>
            <a:br/>
            <a:r>
              <a:t>deliverables match requirement language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657600"/>
            <a:ext cx="3383280" cy="201168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5000" y="38404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Calibri"/>
              </a:defRPr>
            </a:pPr>
            <a:r>
              <a:t>Zero 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0292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Pure markdown &amp; YAML</a:t>
            </a:r>
            <a:br/>
            <a:r>
              <a:t>no builds, no dependencies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657600"/>
            <a:ext cx="3383280" cy="20116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372600" y="3840480"/>
            <a:ext cx="731520" cy="7315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709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Calibri"/>
              </a:defRPr>
            </a:pPr>
            <a:r>
              <a:t>Extensible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50292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Plug into any IDE, git platform,</a:t>
            </a:r>
            <a:br/>
            <a:r>
              <a:t>or CI/CD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Base Install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207008"/>
            <a:ext cx="50292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23360" y="12435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 ./scripts/base-install.sh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One-time per machine</a:t>
            </a:r>
          </a:p>
        </p:txBody>
      </p:sp>
      <p:sp>
        <p:nvSpPr>
          <p:cNvPr id="9" name="Down Arrow 8"/>
          <p:cNvSpPr/>
          <p:nvPr/>
        </p:nvSpPr>
        <p:spPr>
          <a:xfrm>
            <a:off x="960120" y="1874519"/>
            <a:ext cx="274320" cy="274320"/>
          </a:xfrm>
          <a:prstGeom prst="downArrow">
            <a:avLst/>
          </a:prstGeom>
          <a:solidFill>
            <a:srgbClr val="D0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Calibri"/>
              </a:defRPr>
            </a:pPr>
            <a:r>
              <a:t>Project Install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304288"/>
            <a:ext cx="50292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60" y="23408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 ./scripts/project-install.sh --ide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Per project setup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60120" y="2971800"/>
            <a:ext cx="274320" cy="274320"/>
          </a:xfrm>
          <a:prstGeom prst="downArrow">
            <a:avLst/>
          </a:prstGeom>
          <a:solidFill>
            <a:srgbClr val="D0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01568"/>
            <a:ext cx="50292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0" y="34381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 Edit agent-qa/config.yml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Set platform, project ID, Confluence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60120" y="4069080"/>
            <a:ext cx="274320" cy="274320"/>
          </a:xfrm>
          <a:prstGeom prst="downArrow">
            <a:avLst/>
          </a:prstGeom>
          <a:solidFill>
            <a:srgbClr val="D0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Calibri"/>
              </a:defRPr>
            </a:pPr>
            <a:r>
              <a:t>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498848"/>
            <a:ext cx="5029200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23360" y="45354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 /analyze-requirements PROJ-1234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Start generating deliverables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86400"/>
            <a:ext cx="10515600" cy="82296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Atlassian MCP server (Jira + Confluence)  •  Repository MCP server (GitLab, GitHub, or Azure DevOps)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Agent-QA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FDBFE"/>
                </a:solidFill>
                <a:latin typeface="Calibri"/>
              </a:defRPr>
            </a:pPr>
            <a:r>
              <a:t>AI-Powered QA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907</Words>
  <Application>Microsoft Macintosh PowerPoint</Application>
  <PresentationFormat>Widescreen</PresentationFormat>
  <Paragraphs>256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Tarek AOUANI</cp:lastModifiedBy>
  <cp:revision>2</cp:revision>
  <dcterms:created xsi:type="dcterms:W3CDTF">2013-01-27T09:14:16Z</dcterms:created>
  <dcterms:modified xsi:type="dcterms:W3CDTF">2026-03-09T08:58:14Z</dcterms:modified>
  <cp:category/>
</cp:coreProperties>
</file>